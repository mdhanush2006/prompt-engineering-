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1" r:id="rId2"/>
  </p:sldMasterIdLst>
  <p:notesMasterIdLst>
    <p:notesMasterId r:id="rId17"/>
  </p:notesMasterIdLst>
  <p:handoutMasterIdLst>
    <p:handoutMasterId r:id="rId18"/>
  </p:handoutMasterIdLst>
  <p:sldIdLst>
    <p:sldId id="619" r:id="rId3"/>
    <p:sldId id="615" r:id="rId4"/>
    <p:sldId id="324" r:id="rId5"/>
    <p:sldId id="362" r:id="rId6"/>
    <p:sldId id="425" r:id="rId7"/>
    <p:sldId id="601" r:id="rId8"/>
    <p:sldId id="564" r:id="rId9"/>
    <p:sldId id="602" r:id="rId10"/>
    <p:sldId id="606" r:id="rId11"/>
    <p:sldId id="603" r:id="rId12"/>
    <p:sldId id="580" r:id="rId13"/>
    <p:sldId id="351" r:id="rId14"/>
    <p:sldId id="618" r:id="rId15"/>
    <p:sldId id="620" r:id="rId1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5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39A6"/>
    <a:srgbClr val="006600"/>
    <a:srgbClr val="028432"/>
    <a:srgbClr val="E7E7D8"/>
    <a:srgbClr val="0536C6"/>
    <a:srgbClr val="923739"/>
    <a:srgbClr val="FF3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FEB9A4-0567-9419-8657-44EAF83B1E25}" v="172" dt="2026-03-06T06:22:41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4" autoAdjust="0"/>
    <p:restoredTop sz="77728" autoAdjust="0"/>
  </p:normalViewPr>
  <p:slideViewPr>
    <p:cSldViewPr>
      <p:cViewPr>
        <p:scale>
          <a:sx n="51" d="100"/>
          <a:sy n="51" d="100"/>
        </p:scale>
        <p:origin x="-1548" y="-460"/>
      </p:cViewPr>
      <p:guideLst>
        <p:guide orient="horz" pos="2136"/>
        <p:guide pos="291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90"/>
    </p:cViewPr>
  </p:sorterViewPr>
  <p:notesViewPr>
    <p:cSldViewPr>
      <p:cViewPr>
        <p:scale>
          <a:sx n="120" d="100"/>
          <a:sy n="120" d="100"/>
        </p:scale>
        <p:origin x="-1542" y="72"/>
      </p:cViewPr>
      <p:guideLst>
        <p:guide orient="horz" pos="2895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399AABF-9665-440D-90EB-75FD43261E79}" type="datetimeFigureOut">
              <a:rPr lang="en-US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AD26005-350B-4663-8083-A0ECEF69C9D7}" type="slidenum">
              <a:rPr lang="en-US" altLang="en-US"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7537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4A6A58F-D608-4BEA-9705-1B2C4FF196D8}" type="datetimeFigureOut">
              <a:rPr lang="en-US"/>
              <a:t>3/12/2026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C3C041-5338-46DC-B5C2-45D7FFBDD6E7}" type="slidenum">
              <a:rPr lang="en-US" altLang="en-US"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66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F90356-2432-4A64-9D8D-BE65D19B03F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2771" name="Rectangle 7"/>
          <p:cNvSpPr txBox="1">
            <a:spLocks noGrp="1" noChangeArrowheads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 anchor="b"/>
          <a:lstStyle/>
          <a:p>
            <a:pPr algn="r"/>
            <a:fld id="{A3137E09-02F2-4E00-AC60-24CBA40E41A3}" type="slidenum">
              <a:rPr lang="en-US" sz="1200">
                <a:latin typeface="Times New Roman" pitchFamily="18" charset="0"/>
              </a:rPr>
              <a:pPr algn="r"/>
              <a:t>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en-US" dirty="0">
              <a:latin typeface="Times" pitchFamily="-10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t>2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16425"/>
            <a:ext cx="5607050" cy="2711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Before we wrap up the course, let’s review what we have learned today.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During this course, we have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the bullets from the slide.&gt;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923737-DF2C-4C05-AA71-4B5989D14E08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109573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A23028-C590-431B-AD6C-EE2EE647D4B7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illness, disability, and death;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specific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 health; and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illness, disability, and death;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specific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 health; and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illness, disability, and death;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specific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 health; and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t>7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illness, disability, and death;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specific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 health; and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t>8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of causes of illness, disability, and death;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specific causes of ill health; and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t>9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illness, disability, and death;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specific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 health; and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t>10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illness, disability, and death;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specific causes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ill health; and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t>11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1675" y="4416425"/>
            <a:ext cx="5607050" cy="38735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epidemiology in public health practice is to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agent, host, and environmental factors that affect health;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relative importance of causes of illness, disability, and death;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those segments of the population that have the greatest risk from specific causes of ill health; and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effectiveness of health programs and services in improving population health.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next slide.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5650" indent="-29083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3955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E14A06-6DA4-4485-8C26-48B287ECF792}" type="slidenum">
              <a:rPr lang="en-US" altLang="en-US" smtClean="0"/>
              <a:t>12</a:t>
            </a:fld>
            <a:endParaRPr lang="en-US" altLang="en-US" dirty="0"/>
          </a:p>
        </p:txBody>
      </p:sp>
      <p:sp>
        <p:nvSpPr>
          <p:cNvPr id="70661" name="Date Placeholder 4"/>
          <p:cNvSpPr>
            <a:spLocks noGrp="1"/>
          </p:cNvSpPr>
          <p:nvPr>
            <p:ph type="dt" sz="quarter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6920" indent="-29146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59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8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770" indent="-233045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22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31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405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860" indent="-23304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8E05B8-BC65-4A5F-B692-EA38DF597DCB}" type="datetime1">
              <a:rPr lang="en-US" altLang="en-US" smtClean="0"/>
              <a:t>3/12/2026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371600" y="4267200"/>
            <a:ext cx="6400800" cy="1295400"/>
          </a:xfrm>
          <a:prstGeom prst="rect">
            <a:avLst/>
          </a:prstGeom>
        </p:spPr>
        <p:txBody>
          <a:bodyPr/>
          <a:lstStyle>
            <a:lvl1pPr algn="ctr">
              <a:lnSpc>
                <a:spcPts val="2000"/>
              </a:lnSpc>
              <a:buNone/>
              <a:defRPr sz="180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676400"/>
          </a:xfrm>
          <a:prstGeom prst="rect">
            <a:avLst/>
          </a:prstGeom>
        </p:spPr>
        <p:txBody>
          <a:bodyPr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286000" y="6281928"/>
            <a:ext cx="51054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0" y="6473952"/>
            <a:ext cx="5105400" cy="22860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2286000" y="6272784"/>
            <a:ext cx="51054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2286000" y="6464808"/>
            <a:ext cx="5105400" cy="22860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anose="05000000000000000000" pitchFamily="2" charset="2"/>
              <a:buChar char="q"/>
              <a:defRPr sz="2400" b="1" baseline="0">
                <a:solidFill>
                  <a:schemeClr val="bg2"/>
                </a:solidFill>
              </a:defRPr>
            </a:lvl1pPr>
            <a:lvl2pPr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000" i="0" u="none">
                <a:solidFill>
                  <a:schemeClr val="bg2"/>
                </a:solidFill>
                <a:latin typeface="+mn-lt"/>
              </a:defRPr>
            </a:lvl2pPr>
            <a:lvl3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i="0">
                <a:solidFill>
                  <a:schemeClr val="bg2"/>
                </a:solidFill>
              </a:defRPr>
            </a:lvl3pPr>
            <a:lvl4pPr>
              <a:buClr>
                <a:schemeClr val="tx1"/>
              </a:buClr>
              <a:buSzPct val="70000"/>
              <a:buFont typeface="Courier New" panose="02070309020205020404" pitchFamily="49" charset="0"/>
              <a:buChar char="o"/>
              <a:defRPr sz="1800" i="0" baseline="0">
                <a:solidFill>
                  <a:schemeClr val="bg2"/>
                </a:solidFill>
              </a:defRPr>
            </a:lvl4pPr>
            <a:lvl5pPr>
              <a:buClr>
                <a:schemeClr val="tx1"/>
              </a:buClr>
              <a:buSzPct val="70000"/>
              <a:buFont typeface="Arial" panose="020B0604020202020204" pitchFamily="34" charset="0"/>
              <a:buChar char="•"/>
              <a:defRPr sz="1800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791200"/>
            <a:ext cx="82296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Slide (For content heavy tables and char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anose="05000000000000000000" pitchFamily="2" charset="2"/>
              <a:buChar char="q"/>
              <a:defRPr sz="2400" b="1" baseline="0">
                <a:solidFill>
                  <a:schemeClr val="bg2"/>
                </a:solidFill>
              </a:defRPr>
            </a:lvl1pPr>
            <a:lvl2pPr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bg2"/>
                </a:solidFill>
              </a:defRPr>
            </a:lvl2pPr>
            <a:lvl3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>
              <a:buClr>
                <a:schemeClr val="tx1"/>
              </a:buClr>
              <a:buSzPct val="70000"/>
              <a:buFont typeface="Courier New" panose="02070309020205020404" pitchFamily="49" charset="0"/>
              <a:buChar char="o"/>
              <a:defRPr sz="1800" baseline="0">
                <a:solidFill>
                  <a:schemeClr val="bg2"/>
                </a:solidFill>
              </a:defRPr>
            </a:lvl4pPr>
            <a:lvl5pPr>
              <a:buClr>
                <a:schemeClr val="tx1"/>
              </a:buClr>
              <a:buSzPct val="70000"/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791200"/>
            <a:ext cx="82296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371600" y="4267200"/>
            <a:ext cx="6400800" cy="1295400"/>
          </a:xfrm>
          <a:prstGeom prst="rect">
            <a:avLst/>
          </a:prstGeom>
        </p:spPr>
        <p:txBody>
          <a:bodyPr/>
          <a:lstStyle>
            <a:lvl1pPr algn="ctr">
              <a:lnSpc>
                <a:spcPts val="2000"/>
              </a:lnSpc>
              <a:buNone/>
              <a:defRPr sz="1800" baseline="0"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676400"/>
          </a:xfrm>
          <a:prstGeom prst="rect">
            <a:avLst/>
          </a:prstGeom>
        </p:spPr>
        <p:txBody>
          <a:bodyPr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3000"/>
              </a:lnSpc>
              <a:defRPr sz="28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anose="05000000000000000000" pitchFamily="2" charset="2"/>
              <a:buChar char="q"/>
              <a:defRPr sz="2400" b="1" baseline="0">
                <a:solidFill>
                  <a:schemeClr val="bg2"/>
                </a:solidFill>
              </a:defRPr>
            </a:lvl1pPr>
            <a:lvl2pPr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bg2"/>
                </a:solidFill>
              </a:defRPr>
            </a:lvl2pPr>
            <a:lvl3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>
              <a:buClr>
                <a:schemeClr val="tx1"/>
              </a:buClr>
              <a:buSzPct val="70000"/>
              <a:buFont typeface="Courier New" panose="02070309020205020404" pitchFamily="49" charset="0"/>
              <a:buChar char="o"/>
              <a:defRPr sz="1800" baseline="0">
                <a:solidFill>
                  <a:schemeClr val="bg2"/>
                </a:solidFill>
              </a:defRPr>
            </a:lvl4pPr>
            <a:lvl5pPr>
              <a:buClr>
                <a:schemeClr val="tx1"/>
              </a:buClr>
              <a:buSzPct val="70000"/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905000" y="5791200"/>
            <a:ext cx="67818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3800"/>
              </a:lnSpc>
              <a:defRPr sz="3600" b="1" cap="all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22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518150"/>
          </a:xfrm>
          <a:prstGeom prst="rect">
            <a:avLst/>
          </a:prstGeom>
        </p:spPr>
        <p:txBody>
          <a:bodyPr anchor="ctr" anchorCtr="0"/>
          <a:lstStyle>
            <a:lvl1pPr>
              <a:buClr>
                <a:schemeClr val="tx1"/>
              </a:buClr>
              <a:buSzPct val="70000"/>
              <a:buFont typeface="Wingdings" panose="05000000000000000000" pitchFamily="2" charset="2"/>
              <a:buChar char="q"/>
              <a:defRPr sz="2400" b="1">
                <a:solidFill>
                  <a:schemeClr val="bg2"/>
                </a:solidFill>
              </a:defRPr>
            </a:lvl1pPr>
            <a:lvl2pPr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bg2"/>
                </a:solidFill>
              </a:defRPr>
            </a:lvl2pPr>
            <a:lvl3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>
              <a:buClr>
                <a:schemeClr val="tx1"/>
              </a:buClr>
              <a:buSzPct val="70000"/>
              <a:buFont typeface="Courier New" panose="02070309020205020404" pitchFamily="49" charset="0"/>
              <a:buChar char="o"/>
              <a:defRPr sz="1800">
                <a:solidFill>
                  <a:schemeClr val="bg2"/>
                </a:solidFill>
              </a:defRPr>
            </a:lvl4pPr>
            <a:lvl5pPr>
              <a:buClr>
                <a:schemeClr val="tx1"/>
              </a:buClr>
              <a:buSzPct val="70000"/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3560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5791200"/>
            <a:ext cx="82296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ln w="25400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2057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baseline="0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286000" y="6281928"/>
            <a:ext cx="51054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0" y="6473952"/>
            <a:ext cx="5105400" cy="22860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5"/>
          <p:cNvSpPr>
            <a:spLocks noChangeShapeType="1"/>
          </p:cNvSpPr>
          <p:nvPr/>
        </p:nvSpPr>
        <p:spPr bwMode="gray">
          <a:xfrm>
            <a:off x="392113" y="806450"/>
            <a:ext cx="8355012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</p:spPr>
        <p:txBody>
          <a:bodyPr wrap="none" anchor="ctr"/>
          <a:lstStyle/>
          <a:p>
            <a:pPr>
              <a:lnSpc>
                <a:spcPct val="106000"/>
              </a:lnSpc>
              <a:spcBef>
                <a:spcPct val="50000"/>
              </a:spcBef>
              <a:buSzPct val="100000"/>
              <a:buFont typeface="Wingdings 2" panose="05020102010507070707" pitchFamily="18" charset="2"/>
              <a:buNone/>
              <a:defRPr/>
            </a:pPr>
            <a:endParaRPr lang="en-US" sz="11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98" y="514359"/>
            <a:ext cx="8345487" cy="258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93192" y="1152144"/>
            <a:ext cx="4014216" cy="5138928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  <a:lvl2pPr>
              <a:defRPr/>
            </a:lvl2pPr>
            <a:lvl3pPr>
              <a:buNone/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SzPct val="70000"/>
              <a:buFont typeface="Wingdings" panose="05000000000000000000" pitchFamily="2" charset="2"/>
              <a:buChar char="q"/>
              <a:defRPr sz="2400" b="1">
                <a:solidFill>
                  <a:srgbClr val="000000"/>
                </a:solidFill>
              </a:defRPr>
            </a:lvl1pPr>
            <a:lvl2pPr marL="742950" indent="-285750">
              <a:defRPr lang="en-US" sz="20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9EDE2762-D309-4A1B-90D4-EE2DB97D9608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A6995B87-722D-46BC-9CC9-1ED5024E22B0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2CBE984D-2DD5-4668-BAF8-1C9AC1A13DBC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486D207D-9E64-417F-AA84-D9CB1A523B53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solidFill>
                  <a:srgbClr val="0039A6"/>
                </a:solidFill>
                <a:latin typeface="Myriad Web Pro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C346C8A6-4EAA-425C-AD65-FB7185D13849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371600" y="4267200"/>
            <a:ext cx="6400800" cy="1295400"/>
          </a:xfrm>
          <a:prstGeom prst="rect">
            <a:avLst/>
          </a:prstGeom>
        </p:spPr>
        <p:txBody>
          <a:bodyPr/>
          <a:lstStyle>
            <a:lvl1pPr algn="ctr">
              <a:lnSpc>
                <a:spcPts val="2000"/>
              </a:lnSpc>
              <a:buNone/>
              <a:defRPr sz="1800" baseline="0"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1676400"/>
          </a:xfrm>
          <a:prstGeom prst="rect">
            <a:avLst/>
          </a:prstGeom>
        </p:spPr>
        <p:txBody>
          <a:bodyPr/>
          <a:lstStyle>
            <a:lvl1pPr>
              <a:lnSpc>
                <a:spcPts val="3000"/>
              </a:lnSpc>
              <a:defRPr sz="2800" b="1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286000" y="6272784"/>
            <a:ext cx="5105400" cy="18288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0" y="6464808"/>
            <a:ext cx="5105400" cy="228600"/>
          </a:xfrm>
          <a:prstGeom prst="rect">
            <a:avLst/>
          </a:prstGeom>
        </p:spPr>
        <p:txBody>
          <a:bodyPr/>
          <a:lstStyle>
            <a:lvl1pPr>
              <a:buNone/>
              <a:defRPr sz="10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2286000"/>
            <a:ext cx="3962400" cy="3840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2286000"/>
            <a:ext cx="3962400" cy="3840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2800">
                <a:solidFill>
                  <a:srgbClr val="0039A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BF2DA97D-831A-48CD-A7A1-23EF5E790589}" type="slidenum">
              <a:rPr lang="en-US" altLang="en-US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355600" y="1295400"/>
            <a:ext cx="8407400" cy="4724400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9144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07375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43088"/>
            <a:ext cx="8212138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44213AF-26F6-41FA-8D85-E2C5388D6E58}" type="datetimeFigureOut">
              <a:rPr lang="en-US" smtClean="0"/>
              <a:t>3/12/2026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kumimoji="0" lang="en-US">
              <a:solidFill>
                <a:schemeClr val="accent1">
                  <a:tint val="20000"/>
                </a:schemeClr>
              </a:solidFill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D5BBC35B-A44B-4119-B8DA-DE9E3DFADA20}" type="slidenum">
              <a:rPr kumimoji="0" lang="en-US" smtClean="0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DE2762-D309-4A1B-90D4-EE2DB97D9608}" type="slidenum">
              <a:rPr lang="en-US" altLang="en-US" smtClean="0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46C8A6-4EAA-425C-AD65-FB7185D13849}" type="slidenum">
              <a:rPr lang="en-US" altLang="en-US" smtClean="0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BE984D-2DD5-4668-BAF8-1C9AC1A13DBC}" type="slidenum">
              <a:rPr lang="en-US" altLang="en-US" smtClean="0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6D207D-9E64-417F-AA84-D9CB1A523B53}" type="slidenum">
              <a:rPr lang="en-US" altLang="en-US" smtClean="0"/>
              <a:t>‹#›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t>3/12/2026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t>‹#›</a:t>
            </a:fld>
            <a:endParaRPr kumimoji="0"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13AF-26F6-41FA-8D85-E2C5388D6E58}" type="datetimeFigureOut">
              <a:rPr lang="en-US" smtClean="0"/>
              <a:t>3/12/2026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C35B-A44B-4119-B8DA-DE9E3DFADA20}" type="slidenum">
              <a:rPr kumimoji="0" lang="en-US" smtClean="0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44213AF-26F6-41FA-8D85-E2C5388D6E58}" type="datetimeFigureOut">
              <a:rPr lang="en-US" smtClean="0"/>
              <a:t>3/12/2026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algn="r" eaLnBrk="1" latinLnBrk="0" hangingPunct="1"/>
            <a:endParaRPr kumimoji="0" lang="en-US" sz="1000" dirty="0">
              <a:solidFill>
                <a:schemeClr val="tx1"/>
              </a:solidFill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D5BBC35B-A44B-4119-B8DA-DE9E3DFADA20}" type="slidenum">
              <a:rPr kumimoji="0" lang="en-US" smtClean="0"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8"/>
          <p:cNvSpPr>
            <a:spLocks noChangeArrowheads="1"/>
          </p:cNvSpPr>
          <p:nvPr/>
        </p:nvSpPr>
        <p:spPr bwMode="auto">
          <a:xfrm>
            <a:off x="-2531467" y="2362201"/>
            <a:ext cx="858595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US" sz="3600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cs typeface="Arial"/>
            </a:endParaRPr>
          </a:p>
        </p:txBody>
      </p:sp>
      <p:sp>
        <p:nvSpPr>
          <p:cNvPr id="3079" name="Rectangle 1"/>
          <p:cNvSpPr>
            <a:spLocks noChangeArrowheads="1"/>
          </p:cNvSpPr>
          <p:nvPr/>
        </p:nvSpPr>
        <p:spPr bwMode="auto">
          <a:xfrm>
            <a:off x="0" y="0"/>
            <a:ext cx="18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en-US" sz="1800">
              <a:latin typeface="Arial" charset="0"/>
            </a:endParaRPr>
          </a:p>
        </p:txBody>
      </p:sp>
      <p:pic>
        <p:nvPicPr>
          <p:cNvPr id="2" name="Picture 1" descr="ChatGPT Logo and symbol, meaning, history, PNG, brand">
            <a:extLst>
              <a:ext uri="{FF2B5EF4-FFF2-40B4-BE49-F238E27FC236}">
                <a16:creationId xmlns:a16="http://schemas.microsoft.com/office/drawing/2014/main" id="{1D3AB138-CACC-86B0-2F1C-CFBEECDCC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90" y="3346766"/>
            <a:ext cx="4592940" cy="258134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452513-DC6F-1075-ED3F-413C15465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9443" y="524736"/>
            <a:ext cx="9324199" cy="1082675"/>
          </a:xfrm>
        </p:spPr>
        <p:txBody>
          <a:bodyPr lIns="91440" tIns="45720" rIns="91440" bIns="45720" anchor="ctr" anchorCtr="0"/>
          <a:lstStyle/>
          <a:p>
            <a:r>
              <a:rPr lang="en-US">
                <a:cs typeface="Arial"/>
              </a:rPr>
              <a:t>CHATGPT INTERACTIONS </a:t>
            </a:r>
            <a:endParaRPr lang="en-US" dirty="0">
              <a:cs typeface="Arial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6FE195A-9686-5F6A-3BA7-56BF942C6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9587" y="5429141"/>
            <a:ext cx="8212138" cy="981075"/>
          </a:xfrm>
        </p:spPr>
        <p:txBody>
          <a:bodyPr lIns="91440" tIns="45720" rIns="91440" bIns="45720" anchor="t"/>
          <a:lstStyle/>
          <a:p>
            <a:r>
              <a:rPr lang="en-US" dirty="0" err="1">
                <a:cs typeface="Arial"/>
              </a:rPr>
              <a:t>M.Dhanush</a:t>
            </a:r>
            <a:r>
              <a:rPr lang="en-US" dirty="0">
                <a:cs typeface="Arial"/>
              </a:rPr>
              <a:t> </a:t>
            </a:r>
          </a:p>
          <a:p>
            <a:r>
              <a:rPr lang="en-US">
                <a:cs typeface="Arial"/>
              </a:rPr>
              <a:t>KSRCT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75024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Box 6"/>
          <p:cNvSpPr txBox="1">
            <a:spLocks noChangeArrowheads="1"/>
          </p:cNvSpPr>
          <p:nvPr/>
        </p:nvSpPr>
        <p:spPr bwMode="auto">
          <a:xfrm>
            <a:off x="1447800" y="304800"/>
            <a:ext cx="609473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4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Contents</a:t>
            </a:r>
          </a:p>
        </p:txBody>
      </p:sp>
      <p:sp>
        <p:nvSpPr>
          <p:cNvPr id="71685" name="Content Placeholder 2"/>
          <p:cNvSpPr txBox="1"/>
          <p:nvPr/>
        </p:nvSpPr>
        <p:spPr bwMode="auto">
          <a:xfrm>
            <a:off x="533400" y="1600200"/>
            <a:ext cx="82296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of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ChatGPT</a:t>
            </a:r>
            <a:endParaRPr lang="en-IN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can you access ChatGPT?</a:t>
            </a:r>
          </a:p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of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ChatGPT</a:t>
            </a:r>
          </a:p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Limitations of ChatGPT</a:t>
            </a:r>
            <a:endParaRPr lang="en-IN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IN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endParaRPr lang="en-US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rgbClr val="0039A6"/>
              </a:buClr>
              <a:buFont typeface="Wingdings" panose="05000000000000000000" charset="0"/>
              <a:buChar char="ü"/>
            </a:pPr>
            <a:endParaRPr lang="en-IN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rgbClr val="0039A6"/>
              </a:buClr>
              <a:buNone/>
            </a:pPr>
            <a:endParaRPr lang="en-IN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6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>
                <a:solidFill>
                  <a:srgbClr val="0039A6"/>
                </a:solidFill>
                <a:latin typeface="Myriad Web Pro" charset="0"/>
              </a:rPr>
              <a:t>2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Box 6"/>
          <p:cNvSpPr txBox="1">
            <a:spLocks noChangeArrowheads="1"/>
          </p:cNvSpPr>
          <p:nvPr/>
        </p:nvSpPr>
        <p:spPr bwMode="auto">
          <a:xfrm>
            <a:off x="2206625" y="638175"/>
            <a:ext cx="47402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sp>
        <p:nvSpPr>
          <p:cNvPr id="71685" name="Content Placeholder 2"/>
          <p:cNvSpPr txBox="1"/>
          <p:nvPr/>
        </p:nvSpPr>
        <p:spPr bwMode="auto">
          <a:xfrm>
            <a:off x="381000" y="1600200"/>
            <a:ext cx="797687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sz="2800" b="1" dirty="0"/>
              <a:t>ChatGPT, GPT stands for “Generative Pre-trained Transformer”.</a:t>
            </a:r>
            <a:endParaRPr lang="en-IN" sz="2800" dirty="0"/>
          </a:p>
          <a:p>
            <a:r>
              <a:rPr sz="2800" dirty="0">
                <a:latin typeface="Calibri"/>
                <a:cs typeface="Arial"/>
              </a:rPr>
              <a:t>It is an AI chatbot auto-generative system created </a:t>
            </a:r>
            <a:r>
              <a:rPr sz="2800">
                <a:latin typeface="Calibri"/>
                <a:cs typeface="Arial"/>
              </a:rPr>
              <a:t>by OpenAI for online customer care. </a:t>
            </a:r>
            <a:endParaRPr lang="en-IN" sz="2800">
              <a:latin typeface="Calibri"/>
              <a:cs typeface="Arial"/>
            </a:endParaRPr>
          </a:p>
        </p:txBody>
      </p:sp>
      <p:sp>
        <p:nvSpPr>
          <p:cNvPr id="71686" name="Slide Number Placeholder 1"/>
          <p:cNvSpPr txBox="1"/>
          <p:nvPr/>
        </p:nvSpPr>
        <p:spPr bwMode="auto">
          <a:xfrm>
            <a:off x="6629400" y="5791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>
                <a:solidFill>
                  <a:srgbClr val="0039A6"/>
                </a:solidFill>
                <a:latin typeface="Myriad Web Pro" charset="0"/>
              </a:rPr>
              <a:t>3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Box 6"/>
          <p:cNvSpPr txBox="1">
            <a:spLocks noChangeArrowheads="1"/>
          </p:cNvSpPr>
          <p:nvPr/>
        </p:nvSpPr>
        <p:spPr bwMode="auto">
          <a:xfrm>
            <a:off x="2206625" y="638175"/>
            <a:ext cx="47402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1685" name="Content Placeholder 2"/>
          <p:cNvSpPr txBox="1"/>
          <p:nvPr/>
        </p:nvSpPr>
        <p:spPr bwMode="auto">
          <a:xfrm>
            <a:off x="412115" y="1596390"/>
            <a:ext cx="835088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IN" sz="2800" dirty="0">
                <a:latin typeface="Calibri"/>
                <a:cs typeface="Arial"/>
              </a:rPr>
              <a:t>The chatbot has a language-based model that the developer fine-tunes for</a:t>
            </a:r>
            <a:r>
              <a:rPr lang="en-IN" sz="2800" dirty="0">
                <a:solidFill>
                  <a:srgbClr val="FF0000"/>
                </a:solidFill>
                <a:latin typeface="Calibri"/>
                <a:cs typeface="Arial"/>
              </a:rPr>
              <a:t> human interaction in a conversational manner. </a:t>
            </a:r>
          </a:p>
          <a:p>
            <a:r>
              <a:rPr lang="en-IN" sz="2800" dirty="0">
                <a:latin typeface="Calibri"/>
                <a:cs typeface="Arial"/>
              </a:rPr>
              <a:t>Chat GPT works by </a:t>
            </a:r>
            <a:r>
              <a:rPr lang="en-IN" sz="2800" dirty="0">
                <a:solidFill>
                  <a:srgbClr val="FF0000"/>
                </a:solidFill>
                <a:latin typeface="Calibri"/>
                <a:cs typeface="Arial"/>
              </a:rPr>
              <a:t>gathering data from the internet written by people</a:t>
            </a:r>
            <a:r>
              <a:rPr lang="en-IN" sz="2800" dirty="0">
                <a:latin typeface="Calibri"/>
                <a:cs typeface="Arial"/>
              </a:rPr>
              <a:t> and using </a:t>
            </a:r>
            <a:r>
              <a:rPr lang="en-IN" sz="2800" dirty="0">
                <a:solidFill>
                  <a:srgbClr val="FF0000"/>
                </a:solidFill>
                <a:latin typeface="Calibri"/>
                <a:cs typeface="Arial"/>
              </a:rPr>
              <a:t>computing predictions </a:t>
            </a:r>
            <a:r>
              <a:rPr lang="en-IN" sz="2800" dirty="0">
                <a:latin typeface="Calibri"/>
                <a:cs typeface="Arial"/>
              </a:rPr>
              <a:t>to answer questions and queries inputted by the user.</a:t>
            </a:r>
          </a:p>
        </p:txBody>
      </p:sp>
      <p:sp>
        <p:nvSpPr>
          <p:cNvPr id="71686" name="Slide Number Placeholder 1"/>
          <p:cNvSpPr txBox="1"/>
          <p:nvPr/>
        </p:nvSpPr>
        <p:spPr bwMode="auto">
          <a:xfrm>
            <a:off x="6629400" y="5791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3A21016-E51D-4AAE-8DF1-DF6B1BFA55A8}" type="slidenum">
              <a:rPr lang="en-US" altLang="en-US" sz="1400">
                <a:solidFill>
                  <a:srgbClr val="0039A6"/>
                </a:solidFill>
                <a:latin typeface="Myriad Web Pro" charset="0"/>
              </a:rPr>
              <a:t>4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0" y="533499"/>
            <a:ext cx="87630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IN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Uses of ChatGPT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1676400"/>
            <a:ext cx="7696200" cy="3784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/>
                <a:cs typeface="Arial"/>
              </a:rPr>
              <a:t>The main feature of </a:t>
            </a:r>
            <a:r>
              <a:rPr lang="en-US" sz="3000" dirty="0">
                <a:solidFill>
                  <a:srgbClr val="FF0000"/>
                </a:solidFill>
                <a:latin typeface="Calibri"/>
                <a:cs typeface="Arial"/>
              </a:rPr>
              <a:t>ChatGPT is generating response</a:t>
            </a:r>
            <a:r>
              <a:rPr lang="en-US" sz="3000" dirty="0">
                <a:latin typeface="Calibri"/>
                <a:cs typeface="Arial"/>
              </a:rPr>
              <a:t>s like those humans would provide, in a text box. </a:t>
            </a:r>
            <a:endParaRPr lang="en-US">
              <a:latin typeface="Calibri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latin typeface="Calibri"/>
                <a:cs typeface="Arial"/>
              </a:rPr>
              <a:t>Therefore, it is suitable for </a:t>
            </a:r>
            <a:r>
              <a:rPr lang="en-US" sz="3000" dirty="0">
                <a:latin typeface="Calibri"/>
                <a:cs typeface="Arial"/>
              </a:rPr>
              <a:t>chatbots, </a:t>
            </a:r>
            <a:r>
              <a:rPr lang="en-US" sz="3000" dirty="0">
                <a:solidFill>
                  <a:srgbClr val="FF0000"/>
                </a:solidFill>
                <a:latin typeface="Calibri"/>
                <a:cs typeface="Arial"/>
              </a:rPr>
              <a:t>AI system conversations</a:t>
            </a:r>
            <a:r>
              <a:rPr lang="en-US" sz="3000" dirty="0">
                <a:latin typeface="Calibri"/>
                <a:cs typeface="Arial"/>
              </a:rPr>
              <a:t>, and virtual assistants. </a:t>
            </a:r>
            <a:endParaRPr lang="en-US">
              <a:latin typeface="Calibri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However, it can also give natural answers to questions in a conversational tone and can generate stories poems and more.</a:t>
            </a:r>
          </a:p>
        </p:txBody>
      </p:sp>
      <p:sp>
        <p:nvSpPr>
          <p:cNvPr id="22533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Times New Roman" panose="02020603050405020304"/>
                <a:cs typeface="Times New Roman" panose="02020603050405020304"/>
              </a:rPr>
              <a:t>●●●</a:t>
            </a:r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rgbClr val="0039A6"/>
                </a:solidFill>
                <a:latin typeface="Myriad Web Pro" charset="0"/>
              </a:rPr>
              <a:t>5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0" y="533499"/>
            <a:ext cx="87630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IN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Uses of ChatGPT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1600200"/>
            <a:ext cx="815403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800" dirty="0"/>
              <a:t>Moreover, it can: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Write code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Arial"/>
              </a:rPr>
              <a:t>Write an article or blog post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Translate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Debug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Arial"/>
              </a:rPr>
              <a:t>Write a story/poem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Recommend chords and lyrics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22533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rgbClr val="0039A6"/>
                </a:solidFill>
                <a:latin typeface="Myriad Web Pro" charset="0"/>
              </a:rPr>
              <a:t>6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0" y="457299"/>
            <a:ext cx="87630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IN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can you access ChatGPT?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1676400"/>
            <a:ext cx="815340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Arial"/>
              </a:rPr>
              <a:t>You can access ChatGPT simply by visiting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Arial"/>
              </a:rPr>
              <a:t>chat.openai.com</a:t>
            </a:r>
            <a:r>
              <a:rPr lang="en-US" sz="2800">
                <a:latin typeface="Calibri"/>
                <a:cs typeface="Arial"/>
              </a:rPr>
              <a:t> and creating an OpenAI account. </a:t>
            </a:r>
            <a:r>
              <a:rPr lang="en-US" sz="2800" dirty="0">
                <a:latin typeface="Calibri"/>
                <a:cs typeface="Arial"/>
              </a:rPr>
              <a:t> 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Arial"/>
              </a:rPr>
              <a:t>Once you sign in, you can start chatting away with ChatGPT. Get your conversation started by asking a </a:t>
            </a:r>
            <a:r>
              <a:rPr lang="en-US" sz="2800">
                <a:latin typeface="Calibri"/>
                <a:cs typeface="Arial"/>
              </a:rPr>
              <a:t>question. </a:t>
            </a:r>
          </a:p>
        </p:txBody>
      </p:sp>
      <p:sp>
        <p:nvSpPr>
          <p:cNvPr id="22533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Times New Roman" panose="02020603050405020304"/>
                <a:cs typeface="Times New Roman" panose="02020603050405020304"/>
                <a:sym typeface="+mn-ea"/>
              </a:rPr>
              <a:t>●●●</a:t>
            </a:r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rgbClr val="0039A6"/>
                </a:solidFill>
                <a:latin typeface="Myriad Web Pro" charset="0"/>
              </a:rPr>
              <a:t>7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0" y="457299"/>
            <a:ext cx="87630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IN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can you access ChatGPT?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1676400"/>
            <a:ext cx="7990205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Arial"/>
              </a:rPr>
              <a:t>ChatGPT runs on a language model architecture created by OpenAI called the Generative Pre-</a:t>
            </a:r>
            <a:r>
              <a:rPr lang="en-US" sz="2800">
                <a:latin typeface="Calibri"/>
                <a:cs typeface="Arial"/>
              </a:rPr>
              <a:t>trained Transformer (GPT). </a:t>
            </a:r>
            <a:r>
              <a:rPr lang="en-US" sz="2800" dirty="0">
                <a:latin typeface="Calibri"/>
                <a:cs typeface="Arial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  <a:cs typeface="Arial"/>
              </a:rPr>
              <a:t>However, with a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Arial"/>
              </a:rPr>
              <a:t>subscription to ChatGPT Plus,</a:t>
            </a:r>
            <a:r>
              <a:rPr lang="en-US" sz="2800" dirty="0">
                <a:latin typeface="Calibri"/>
                <a:cs typeface="Arial"/>
              </a:rPr>
              <a:t> you can access ChatGPT with GPT-4, Open AI's most advanced model. </a:t>
            </a:r>
          </a:p>
        </p:txBody>
      </p:sp>
      <p:sp>
        <p:nvSpPr>
          <p:cNvPr id="22533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rgbClr val="0039A6"/>
                </a:solidFill>
                <a:latin typeface="Myriad Web Pro" charset="0"/>
              </a:rPr>
              <a:t>8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0" y="457299"/>
            <a:ext cx="87630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IN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of ChatGPT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1676400"/>
            <a:ext cx="7967345" cy="24006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Calibri"/>
                <a:cs typeface="Arial"/>
              </a:rPr>
              <a:t> You can complete your tasks in a fraction of the time it would have taken you manually.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Calibri"/>
                <a:cs typeface="Arial"/>
              </a:rPr>
              <a:t>It can also be used to generate ideas and </a:t>
            </a:r>
            <a:r>
              <a:rPr lang="en-IN" sz="3000">
                <a:latin typeface="Calibri"/>
                <a:cs typeface="Arial"/>
              </a:rPr>
              <a:t>content and can automate  tasks such </a:t>
            </a:r>
            <a:r>
              <a:rPr lang="en-IN" sz="3000" dirty="0">
                <a:latin typeface="Calibri"/>
                <a:cs typeface="Arial"/>
              </a:rPr>
              <a:t>as data </a:t>
            </a:r>
            <a:r>
              <a:rPr lang="en-IN" sz="3000">
                <a:latin typeface="Calibri"/>
                <a:cs typeface="Arial"/>
              </a:rPr>
              <a:t>entry or categorization.</a:t>
            </a:r>
          </a:p>
        </p:txBody>
      </p:sp>
      <p:sp>
        <p:nvSpPr>
          <p:cNvPr id="22533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Times New Roman" panose="02020603050405020304"/>
                <a:cs typeface="Times New Roman" panose="02020603050405020304"/>
              </a:rPr>
              <a:t>●●●</a:t>
            </a:r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rgbClr val="0039A6"/>
                </a:solidFill>
                <a:latin typeface="Myriad Web Pro" charset="0"/>
              </a:rPr>
              <a:t>9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0" y="457299"/>
            <a:ext cx="87630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IN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of ChatGPT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1676400"/>
            <a:ext cx="7851775" cy="24006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latin typeface="Calibri"/>
                <a:cs typeface="Arial"/>
                <a:sym typeface="+mn-ea"/>
              </a:rPr>
              <a:t>One of the main benefits of Chat GPT is its </a:t>
            </a:r>
            <a:r>
              <a:rPr lang="en-IN" sz="3000">
                <a:latin typeface="Calibri"/>
                <a:cs typeface="Arial"/>
                <a:sym typeface="+mn-ea"/>
              </a:rPr>
              <a:t>ability to generate responses quickly.</a:t>
            </a:r>
            <a:endParaRPr lang="en-IN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rgbClr val="FF0000"/>
                </a:solidFill>
                <a:latin typeface="Calibri"/>
                <a:cs typeface="Arial"/>
              </a:rPr>
              <a:t>The decision to use Chat GPT should be based on specific needs,</a:t>
            </a:r>
            <a:r>
              <a:rPr lang="en-IN" sz="3000" dirty="0">
                <a:latin typeface="Calibri"/>
                <a:cs typeface="Arial"/>
              </a:rPr>
              <a:t> goals, technical expertise, and available resources.</a:t>
            </a:r>
          </a:p>
        </p:txBody>
      </p:sp>
      <p:sp>
        <p:nvSpPr>
          <p:cNvPr id="22533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rgbClr val="0039A6"/>
                </a:solidFill>
                <a:latin typeface="Myriad Web Pro" charset="0"/>
              </a:rPr>
              <a:t>10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0" y="457299"/>
            <a:ext cx="87630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IN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Limitations of ChatGPT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1676400"/>
            <a:ext cx="7696200" cy="3784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/>
                <a:cs typeface="Arial"/>
              </a:rPr>
              <a:t>There is the risk of </a:t>
            </a:r>
            <a:r>
              <a:rPr lang="en-US" sz="3000" dirty="0">
                <a:solidFill>
                  <a:srgbClr val="FF0000"/>
                </a:solidFill>
                <a:latin typeface="Calibri"/>
                <a:cs typeface="Arial"/>
              </a:rPr>
              <a:t>plagiarism</a:t>
            </a:r>
            <a:r>
              <a:rPr lang="en-US" sz="3000" dirty="0">
                <a:latin typeface="Calibri"/>
                <a:cs typeface="Arial"/>
              </a:rPr>
              <a:t>, which is unacceptable at all costs.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/>
                <a:cs typeface="Arial"/>
              </a:rPr>
              <a:t>While Chat GPT can generate content quickly and accurately on simple topics, </a:t>
            </a:r>
            <a:r>
              <a:rPr lang="en-US" sz="3000" dirty="0">
                <a:solidFill>
                  <a:srgbClr val="FF0000"/>
                </a:solidFill>
                <a:latin typeface="Calibri"/>
                <a:cs typeface="Arial"/>
              </a:rPr>
              <a:t>it struggles with more complex ideas or issues.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Users must consider that Chat GPT is still learning and is unable to produce perfect results.</a:t>
            </a:r>
          </a:p>
        </p:txBody>
      </p:sp>
      <p:sp>
        <p:nvSpPr>
          <p:cNvPr id="22533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Times New Roman" panose="02020603050405020304"/>
                <a:cs typeface="Times New Roman" panose="02020603050405020304"/>
              </a:rPr>
              <a:t>●●●</a:t>
            </a:r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 smtClean="0">
                <a:solidFill>
                  <a:srgbClr val="0039A6"/>
                </a:solidFill>
                <a:latin typeface="Myriad Web Pro" charset="0"/>
              </a:rPr>
              <a:t>11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4478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7"/>
          <p:cNvSpPr txBox="1">
            <a:spLocks noChangeArrowheads="1"/>
          </p:cNvSpPr>
          <p:nvPr/>
        </p:nvSpPr>
        <p:spPr bwMode="auto">
          <a:xfrm>
            <a:off x="0" y="609600"/>
            <a:ext cx="8763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1676400"/>
            <a:ext cx="7924800" cy="31076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800" dirty="0">
                <a:latin typeface="Calibri"/>
                <a:cs typeface="Arial"/>
              </a:rPr>
              <a:t>ChatGPT is a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Arial"/>
              </a:rPr>
              <a:t>natural language processing tool</a:t>
            </a:r>
            <a:r>
              <a:rPr lang="en-US" sz="2800" dirty="0">
                <a:latin typeface="Calibri"/>
                <a:cs typeface="Arial"/>
              </a:rPr>
              <a:t> driven by AI technology that allows you to have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Arial"/>
              </a:rPr>
              <a:t>human-like conversations</a:t>
            </a:r>
            <a:r>
              <a:rPr lang="en-US" sz="2800" dirty="0">
                <a:latin typeface="Calibri"/>
                <a:cs typeface="Arial"/>
              </a:rPr>
              <a:t> and much more with the chatbot. 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2800" dirty="0">
                <a:latin typeface="Calibri"/>
                <a:cs typeface="Arial"/>
              </a:rPr>
              <a:t>The language model can answer questions and assist you with tasks, such as composing emails, essays, and code.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371600"/>
            <a:ext cx="8042275" cy="0"/>
          </a:xfrm>
          <a:prstGeom prst="line">
            <a:avLst/>
          </a:prstGeom>
          <a:ln>
            <a:solidFill>
              <a:srgbClr val="0039A6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533" name="Slide Number Placeholder 1"/>
          <p:cNvSpPr txBox="1"/>
          <p:nvPr/>
        </p:nvSpPr>
        <p:spPr bwMode="auto">
          <a:xfrm>
            <a:off x="6553200" y="61722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EF9015A-DAF8-47A9-8291-B9B5A3191301}" type="slidenum">
              <a:rPr lang="en-US" altLang="en-US" sz="1400">
                <a:solidFill>
                  <a:srgbClr val="0039A6"/>
                </a:solidFill>
                <a:latin typeface="Myriad Web Pro" charset="0"/>
              </a:rPr>
              <a:t>12</a:t>
            </a:fld>
            <a:endParaRPr lang="en-US" altLang="en-US" sz="1400" dirty="0">
              <a:solidFill>
                <a:srgbClr val="0039A6"/>
              </a:solidFill>
              <a:latin typeface="Myriad Web Pro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752600"/>
            <a:ext cx="6172200" cy="3429000"/>
          </a:xfrm>
        </p:spPr>
        <p:txBody>
          <a:bodyPr lIns="91440" tIns="45720" rIns="91440" bIns="45720" anchor="t"/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sz="6000" b="1">
                <a:solidFill>
                  <a:srgbClr val="FF0000"/>
                </a:solidFill>
                <a:cs typeface="Arial"/>
              </a:rPr>
              <a:t>Any </a:t>
            </a:r>
            <a:r>
              <a:rPr lang="en-US" sz="6000" b="1">
                <a:solidFill>
                  <a:srgbClr val="FF0000"/>
                </a:solidFill>
                <a:ea typeface="+mn-lt"/>
                <a:cs typeface="+mn-lt"/>
              </a:rPr>
              <a:t>queries....</a:t>
            </a:r>
            <a:r>
              <a:rPr lang="en-US" sz="6000" dirty="0">
                <a:solidFill>
                  <a:srgbClr val="7030A0"/>
                </a:solidFill>
                <a:ea typeface="+mn-lt"/>
                <a:cs typeface="+mn-lt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DE2762-D309-4A1B-90D4-EE2DB97D9608}" type="slidenum">
              <a:rPr lang="en-US" altLang="en-US" smtClean="0"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844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2C78-A643-3ED2-7147-2AF5A65B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A25C4-0BDD-4956-02AC-D486F9068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7030A0"/>
                </a:solidFill>
                <a:cs typeface="Arial"/>
              </a:rPr>
              <a:t>         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 marL="0" indent="0">
              <a:buNone/>
            </a:pPr>
            <a:r>
              <a:rPr lang="en-US" sz="6000" b="1" dirty="0">
                <a:solidFill>
                  <a:srgbClr val="7030A0"/>
                </a:solidFill>
                <a:cs typeface="Arial"/>
              </a:rPr>
              <a:t>            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 marL="0" indent="0">
              <a:buNone/>
            </a:pPr>
            <a:r>
              <a:rPr lang="en-US" sz="6000" b="1">
                <a:solidFill>
                  <a:srgbClr val="7030A0"/>
                </a:solidFill>
                <a:cs typeface="Arial"/>
              </a:rPr>
              <a:t>          THANKS</a:t>
            </a:r>
            <a:endParaRPr lang="en-US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7F600-FDE3-200E-6E84-CB68DAB7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DE2762-D309-4A1B-90D4-EE2DB97D9608}" type="slidenum">
              <a:rPr lang="en-US" altLang="en-US" smtClean="0"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5966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7_SEPDPO">
  <a:themeElements>
    <a:clrScheme name="OSELS Light PPT Colors">
      <a:dk1>
        <a:srgbClr val="0039A6"/>
      </a:dk1>
      <a:lt1>
        <a:srgbClr val="FFFFFF"/>
      </a:lt1>
      <a:dk2>
        <a:srgbClr val="3077FF"/>
      </a:dk2>
      <a:lt2>
        <a:srgbClr val="4B4B4B"/>
      </a:lt2>
      <a:accent1>
        <a:srgbClr val="0039A6"/>
      </a:accent1>
      <a:accent2>
        <a:srgbClr val="9E302D"/>
      </a:accent2>
      <a:accent3>
        <a:srgbClr val="5B8F22"/>
      </a:accent3>
      <a:accent4>
        <a:srgbClr val="532E60"/>
      </a:accent4>
      <a:accent5>
        <a:srgbClr val="FDC82F"/>
      </a:accent5>
      <a:accent6>
        <a:srgbClr val="0CC6DE"/>
      </a:accent6>
      <a:hlink>
        <a:srgbClr val="002060"/>
      </a:hlink>
      <a:folHlink>
        <a:srgbClr val="0053F2"/>
      </a:folHlink>
    </a:clrScheme>
    <a:fontScheme name="CDC Myriad Web Pro">
      <a:majorFont>
        <a:latin typeface="Myriad Web Pro"/>
        <a:ea typeface=""/>
        <a:cs typeface=""/>
      </a:majorFont>
      <a:minorFont>
        <a:latin typeface="Myriad Web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66CCFF"/>
        </a:solidFill>
        <a:ln w="9525">
          <a:miter lim="800000"/>
        </a:ln>
      </a:spPr>
      <a:bodyPr wrap="none" rtlCol="0" anchor="ctr">
        <a:flatTx/>
      </a:bodyPr>
      <a:lstStyle>
        <a:defPPr algn="ctr">
          <a:defRPr sz="1200" b="1" dirty="0">
            <a:solidFill>
              <a:schemeClr val="bg1"/>
            </a:solidFill>
            <a:latin typeface="Tahoma" panose="020B0604030504040204" pitchFamily="34" charset="0"/>
          </a:defRPr>
        </a:defPPr>
      </a:lstStyle>
    </a:spDef>
    <a:lnDef>
      <a:spPr>
        <a:ln w="22225">
          <a:solidFill>
            <a:srgbClr val="0A0A0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ge Waves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1051</Words>
  <Application>Microsoft Office PowerPoint</Application>
  <PresentationFormat>On-screen Show (4:3)</PresentationFormat>
  <Paragraphs>278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7_SEPDPO</vt:lpstr>
      <vt:lpstr>Orange Waves</vt:lpstr>
      <vt:lpstr>CHATGPT INTERACTIONS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NISHA PANDITA</dc:creator>
  <cp:lastModifiedBy>M Dhanush</cp:lastModifiedBy>
  <cp:revision>1020</cp:revision>
  <cp:lastPrinted>2014-09-05T11:57:00Z</cp:lastPrinted>
  <dcterms:created xsi:type="dcterms:W3CDTF">2014-04-08T13:15:00Z</dcterms:created>
  <dcterms:modified xsi:type="dcterms:W3CDTF">2026-03-12T09:52:34Z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7C76671C99114DB597A029FBEE668711</vt:lpwstr>
  </property>
  <property fmtid="{D5CDD505-2E9C-101B-9397-08002B2CF9AE}" pid="3" name="KSOProductBuildVer">
    <vt:lpwstr>1033-11.2.0.11516</vt:lpwstr>
  </property>
</Properties>
</file>